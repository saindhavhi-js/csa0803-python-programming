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75" r:id="rId9"/>
    <p:sldId id="262" r:id="rId10"/>
    <p:sldId id="271" r:id="rId11"/>
    <p:sldId id="274" r:id="rId12"/>
    <p:sldId id="263" r:id="rId13"/>
    <p:sldId id="264" r:id="rId14"/>
    <p:sldId id="272" r:id="rId15"/>
    <p:sldId id="273" r:id="rId16"/>
    <p:sldId id="276" r:id="rId17"/>
    <p:sldId id="266" r:id="rId18"/>
    <p:sldId id="267" r:id="rId19"/>
    <p:sldId id="270" r:id="rId20"/>
    <p:sldId id="268" r:id="rId21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i1qR4UyPzMXXsnccWI7vV1ORFH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B64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5849BD5-E9BB-42ED-1C1E-252366C65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0A99A497-5B37-F109-76BE-0D23AECF8E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45A6D544-B680-B180-4A05-2C89339F65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163960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4A2AA1-4741-0B08-C563-9F3D94120E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>
            <a:extLst>
              <a:ext uri="{FF2B5EF4-FFF2-40B4-BE49-F238E27FC236}">
                <a16:creationId xmlns:a16="http://schemas.microsoft.com/office/drawing/2014/main" id="{BE7940A2-6EB9-6E11-D0AA-AD6A0613F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6:notes">
            <a:extLst>
              <a:ext uri="{FF2B5EF4-FFF2-40B4-BE49-F238E27FC236}">
                <a16:creationId xmlns:a16="http://schemas.microsoft.com/office/drawing/2014/main" id="{2AE6AF6F-6224-8701-B39A-D408912055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329211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27C42442-862F-CE99-35EB-B9B99E423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C5B79405-6A94-F97C-E2B5-0E5F85BFB9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E80974FA-AB36-3007-2398-F4C8508481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217693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>
          <a:extLst>
            <a:ext uri="{FF2B5EF4-FFF2-40B4-BE49-F238E27FC236}">
              <a16:creationId xmlns:a16="http://schemas.microsoft.com/office/drawing/2014/main" id="{6C6D2866-8A1F-EA54-F86A-B51A3F02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>
            <a:extLst>
              <a:ext uri="{FF2B5EF4-FFF2-40B4-BE49-F238E27FC236}">
                <a16:creationId xmlns:a16="http://schemas.microsoft.com/office/drawing/2014/main" id="{04AF09AD-EBA6-3FDF-40C3-A0E691D00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7:notes">
            <a:extLst>
              <a:ext uri="{FF2B5EF4-FFF2-40B4-BE49-F238E27FC236}">
                <a16:creationId xmlns:a16="http://schemas.microsoft.com/office/drawing/2014/main" id="{236BD5DB-722D-469C-4EBF-D63EB015E2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9867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2B0202CA-C10F-9E43-F618-5377D941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>
            <a:extLst>
              <a:ext uri="{FF2B5EF4-FFF2-40B4-BE49-F238E27FC236}">
                <a16:creationId xmlns:a16="http://schemas.microsoft.com/office/drawing/2014/main" id="{6939F419-676F-3A57-F87F-113999C85A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>
            <a:extLst>
              <a:ext uri="{FF2B5EF4-FFF2-40B4-BE49-F238E27FC236}">
                <a16:creationId xmlns:a16="http://schemas.microsoft.com/office/drawing/2014/main" id="{A1FC840F-CA84-1081-C523-28FDEDBFF2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50319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E0ADE0B2-7293-F9D6-F5AE-B305C2E01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>
            <a:extLst>
              <a:ext uri="{FF2B5EF4-FFF2-40B4-BE49-F238E27FC236}">
                <a16:creationId xmlns:a16="http://schemas.microsoft.com/office/drawing/2014/main" id="{4783AA09-F249-3987-D407-EE730D6AAA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>
            <a:extLst>
              <a:ext uri="{FF2B5EF4-FFF2-40B4-BE49-F238E27FC236}">
                <a16:creationId xmlns:a16="http://schemas.microsoft.com/office/drawing/2014/main" id="{4012F6C5-9153-CEAD-7EA7-8CFED9EA1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92638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>
          <a:extLst>
            <a:ext uri="{FF2B5EF4-FFF2-40B4-BE49-F238E27FC236}">
              <a16:creationId xmlns:a16="http://schemas.microsoft.com/office/drawing/2014/main" id="{49B0F500-7E62-3A9A-8431-B5D907362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>
            <a:extLst>
              <a:ext uri="{FF2B5EF4-FFF2-40B4-BE49-F238E27FC236}">
                <a16:creationId xmlns:a16="http://schemas.microsoft.com/office/drawing/2014/main" id="{2AB13A09-9DA9-44DE-5BA3-E31A5F3D23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0:notes">
            <a:extLst>
              <a:ext uri="{FF2B5EF4-FFF2-40B4-BE49-F238E27FC236}">
                <a16:creationId xmlns:a16="http://schemas.microsoft.com/office/drawing/2014/main" id="{93FB7259-4738-5681-6002-5DF5D45ED2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2091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DCAFDF13-6862-D161-BEEB-8264F314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:notes">
            <a:extLst>
              <a:ext uri="{FF2B5EF4-FFF2-40B4-BE49-F238E27FC236}">
                <a16:creationId xmlns:a16="http://schemas.microsoft.com/office/drawing/2014/main" id="{6A64B005-EC90-C1F1-E756-D98556D1DC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2:notes">
            <a:extLst>
              <a:ext uri="{FF2B5EF4-FFF2-40B4-BE49-F238E27FC236}">
                <a16:creationId xmlns:a16="http://schemas.microsoft.com/office/drawing/2014/main" id="{7F0F9118-7B01-3290-1129-6DF1E38B4C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397674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>
            <a:gsLst>
              <a:gs pos="0">
                <a:srgbClr val="007795"/>
              </a:gs>
              <a:gs pos="55000">
                <a:srgbClr val="47BBE0"/>
              </a:gs>
              <a:gs pos="100000">
                <a:srgbClr val="007795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7" name="Google Shape;17;p15"/>
          <p:cNvSpPr txBox="1"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ucida Sans"/>
              <a:buNone/>
              <a:defRPr sz="48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R="64008" lvl="0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4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grpSp>
        <p:nvGrpSpPr>
          <p:cNvPr id="19" name="Google Shape;19;p15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20" name="Google Shape;20;p15"/>
            <p:cNvSpPr/>
            <p:nvPr/>
          </p:nvSpPr>
          <p:spPr>
            <a:xfrm>
              <a:off x="1687513" y="4832896"/>
              <a:ext cx="7456487" cy="518816"/>
            </a:xfrm>
            <a:custGeom>
              <a:avLst/>
              <a:gdLst/>
              <a:ahLst/>
              <a:cxnLst/>
              <a:rect l="l" t="t" r="r" b="b"/>
              <a:pathLst>
                <a:path w="4697" h="367" extrusionOk="0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CCADC">
                <a:alpha val="4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1" name="Google Shape;21;p15"/>
            <p:cNvSpPr/>
            <p:nvPr/>
          </p:nvSpPr>
          <p:spPr>
            <a:xfrm>
              <a:off x="35443" y="5135526"/>
              <a:ext cx="9108557" cy="838200"/>
            </a:xfrm>
            <a:custGeom>
              <a:avLst/>
              <a:gdLst/>
              <a:ahLst/>
              <a:cxnLst/>
              <a:rect l="l" t="t" r="r" b="b"/>
              <a:pathLst>
                <a:path w="5760" h="528" extrusionOk="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22" name="Google Shape;22;p15"/>
            <p:cNvSpPr/>
            <p:nvPr/>
          </p:nvSpPr>
          <p:spPr>
            <a:xfrm>
              <a:off x="0" y="4883888"/>
              <a:ext cx="9144000" cy="1981200"/>
            </a:xfrm>
            <a:custGeom>
              <a:avLst/>
              <a:gdLst/>
              <a:ahLst/>
              <a:cxnLst/>
              <a:rect l="l" t="t" r="r" b="b"/>
              <a:pathLst>
                <a:path w="5760" h="1248" extrusionOk="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2">
                <a:alphaModFix amt="50000"/>
              </a:blip>
              <a:tile tx="0" ty="0" sx="50000" sy="50000" flip="none" algn="t"/>
            </a:blip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cxnSp>
          <p:nvCxnSpPr>
            <p:cNvPr id="23" name="Google Shape;23;p15"/>
            <p:cNvCxnSpPr/>
            <p:nvPr/>
          </p:nvCxnSpPr>
          <p:spPr>
            <a:xfrm>
              <a:off x="-3765" y="4880373"/>
              <a:ext cx="9147765" cy="839943"/>
            </a:xfrm>
            <a:prstGeom prst="straightConnector1">
              <a:avLst/>
            </a:prstGeom>
            <a:noFill/>
            <a:ln w="12050" cap="flat" cmpd="sng">
              <a:solidFill>
                <a:srgbClr val="93C5D8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</p:grpSp>
      <p:sp>
        <p:nvSpPr>
          <p:cNvPr id="24" name="Google Shape;24;p15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E7F0F4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buNone/>
              <a:defRPr sz="1000" b="0">
                <a:solidFill>
                  <a:srgbClr val="FFFFFF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sz="48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" name="Google Shape;39;p17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0" name="Google Shape;40;p1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18"/>
          <p:cNvSpPr txBox="1">
            <a:spLocks noGrp="1"/>
          </p:cNvSpPr>
          <p:nvPr>
            <p:ph type="body" idx="2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9504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marL="914400" lvl="1" indent="-381000" algn="l">
              <a:spcBef>
                <a:spcPts val="324"/>
              </a:spcBef>
              <a:spcAft>
                <a:spcPts val="0"/>
              </a:spcAft>
              <a:buSzPts val="2400"/>
              <a:buChar char="◦"/>
              <a:defRPr sz="2400"/>
            </a:lvl2pPr>
            <a:lvl3pPr marL="1371600" lvl="2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p18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8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8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mparison" type="twoTxTwoObj">
  <p:cSld name="TWO_OBJECTS_WITH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19"/>
          <p:cNvSpPr txBox="1">
            <a:spLocks noGrp="1"/>
          </p:cNvSpPr>
          <p:nvPr>
            <p:ph type="body" idx="2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w="965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182875" tIns="45700" rIns="91425" bIns="45700" anchor="ctr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1632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body" idx="3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2232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body" idx="4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2232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marL="914400" lvl="1" indent="-355600" algn="l">
              <a:spcBef>
                <a:spcPts val="324"/>
              </a:spcBef>
              <a:spcAft>
                <a:spcPts val="0"/>
              </a:spcAft>
              <a:buSzPts val="2000"/>
              <a:buChar char="◦"/>
              <a:defRPr sz="2000"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marL="1828800" lvl="3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9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9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1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1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bg>
      <p:bgPr>
        <a:blipFill rotWithShape="1">
          <a:blip r:embed="rId2">
            <a:alphaModFix/>
          </a:blip>
          <a:tile tx="0" ty="0" sx="50000" sy="50000" flip="none" algn="tl"/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2"/>
          <p:cNvSpPr txBox="1"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sz="2500"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2"/>
          <p:cNvSpPr txBox="1">
            <a:spLocks noGrp="1"/>
          </p:cNvSpPr>
          <p:nvPr>
            <p:ph type="body" idx="1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marL="914400" lvl="1" indent="-228600" algn="l">
              <a:spcBef>
                <a:spcPts val="324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22"/>
          <p:cNvSpPr txBox="1">
            <a:spLocks noGrp="1"/>
          </p:cNvSpPr>
          <p:nvPr>
            <p:ph type="body" idx="2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66776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marL="914400" lvl="1" indent="-406400" algn="l">
              <a:spcBef>
                <a:spcPts val="324"/>
              </a:spcBef>
              <a:spcAft>
                <a:spcPts val="0"/>
              </a:spcAft>
              <a:buSzPts val="2800"/>
              <a:buChar char="◦"/>
              <a:defRPr sz="2800"/>
            </a:lvl2pPr>
            <a:lvl3pPr marL="1371600" lvl="2" indent="-3810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marL="1828800" lvl="3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bg>
      <p:bgPr>
        <a:gradFill>
          <a:gsLst>
            <a:gs pos="0">
              <a:srgbClr val="B1B1B1"/>
            </a:gs>
            <a:gs pos="40000">
              <a:srgbClr val="9E9E9E"/>
            </a:gs>
            <a:gs pos="100000">
              <a:schemeClr val="dk1"/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3"/>
          <p:cNvSpPr txBox="1">
            <a:spLocks noGrp="1"/>
          </p:cNvSpPr>
          <p:nvPr>
            <p:ph type="body" idx="1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marR="18288" lvl="0" indent="-228600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marL="914400" lvl="1" indent="-304800" algn="l">
              <a:spcBef>
                <a:spcPts val="324"/>
              </a:spcBef>
              <a:spcAft>
                <a:spcPts val="0"/>
              </a:spcAft>
              <a:buSzPts val="1200"/>
              <a:buChar char="◦"/>
              <a:defRPr sz="1200"/>
            </a:lvl2pPr>
            <a:lvl3pPr marL="1371600" lvl="2" indent="-2921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marL="1828800" lvl="3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23"/>
          <p:cNvSpPr>
            <a:spLocks noGrp="1"/>
          </p:cNvSpPr>
          <p:nvPr>
            <p:ph type="pic" idx="2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23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lvl="1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lvl="2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lvl="3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lvl="4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lvl="5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lvl="6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lvl="7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lvl="8" indent="0" algn="r">
              <a:spcBef>
                <a:spcPts val="0"/>
              </a:spcBef>
              <a:buNone/>
              <a:defRPr sz="1000" b="0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sz="3000" b="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/>
          <p:nvPr/>
        </p:nvSpPr>
        <p:spPr>
          <a:xfrm>
            <a:off x="716436" y="5001993"/>
            <a:ext cx="3802003" cy="1443111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1" name="Google Shape;81;p23"/>
          <p:cNvSpPr/>
          <p:nvPr/>
        </p:nvSpPr>
        <p:spPr>
          <a:xfrm>
            <a:off x="-53561" y="5785023"/>
            <a:ext cx="380200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2" name="Google Shape;82;p23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83" name="Google Shape;83;p23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4" name="Google Shape;84;p23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5" name="Google Shape;85;p23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>
            <a:gsLst>
              <a:gs pos="0">
                <a:srgbClr val="1488A5"/>
              </a:gs>
              <a:gs pos="72000">
                <a:srgbClr val="4DB7DA"/>
              </a:gs>
              <a:gs pos="100000">
                <a:srgbClr val="7CC2DD"/>
              </a:gs>
            </a:gsLst>
            <a:lin ang="16200000" scaled="0"/>
          </a:gradFill>
          <a:ln w="9525" cap="rnd" cmpd="sng">
            <a:solidFill>
              <a:srgbClr val="20768B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25400" dir="54000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4"/>
          <p:cNvSpPr txBox="1">
            <a:spLocks noGrp="1"/>
          </p:cNvSpPr>
          <p:nvPr>
            <p:ph type="body" idx="1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6324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marL="914400" lvl="1" indent="-342900" algn="l">
              <a:spcBef>
                <a:spcPts val="324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marL="1828800" lvl="3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marL="2743200" lvl="5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marL="3657600" lvl="7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marL="4114800" lvl="8" indent="-3429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/>
          <p:nvPr/>
        </p:nvSpPr>
        <p:spPr>
          <a:xfrm>
            <a:off x="716436" y="5001993"/>
            <a:ext cx="3802003" cy="1443111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rgbClr val="9CCADC">
              <a:alpha val="40000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" name="Google Shape;7;p14"/>
          <p:cNvSpPr/>
          <p:nvPr/>
        </p:nvSpPr>
        <p:spPr>
          <a:xfrm>
            <a:off x="-53561" y="5785023"/>
            <a:ext cx="3802003" cy="838200"/>
          </a:xfrm>
          <a:custGeom>
            <a:avLst/>
            <a:gdLst/>
            <a:ahLst/>
            <a:cxnLst/>
            <a:rect l="l" t="t" r="r" b="b"/>
            <a:pathLst>
              <a:path w="5760" h="528" extrusionOk="0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8" name="Google Shape;8;p1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3">
              <a:alphaModFix amt="50000"/>
            </a:blip>
            <a:tile tx="0" ty="0" sx="50000" sy="50000" flip="none" algn="t"/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cxnSp>
        <p:nvCxnSpPr>
          <p:cNvPr id="9" name="Google Shape;9;p14"/>
          <p:cNvCxnSpPr/>
          <p:nvPr/>
        </p:nvCxnSpPr>
        <p:spPr>
          <a:xfrm>
            <a:off x="-9237" y="5787738"/>
            <a:ext cx="3405509" cy="1084383"/>
          </a:xfrm>
          <a:prstGeom prst="straightConnector1">
            <a:avLst/>
          </a:prstGeom>
          <a:noFill/>
          <a:ln w="12050" cap="flat" cmpd="sng">
            <a:solidFill>
              <a:srgbClr val="93C5D8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  <a:defRPr sz="4100" b="1" i="0" u="none" strike="noStrike" cap="non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45186" algn="l" rtl="0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sz="27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914400" marR="0" lvl="1" indent="-374650" algn="l" rtl="0">
              <a:spcBef>
                <a:spcPts val="324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sz="23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1371600" marR="0" lvl="2" indent="-3619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sz="21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1828800" marR="0" lvl="3" indent="-34925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sz="19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2286000" marR="0" lvl="4" indent="-342900" algn="l" rtl="0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2743200" marR="0" lvl="5" indent="-3429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3200400" marR="0" lvl="6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3657600" marR="0" lvl="7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4114800" marR="0" lvl="8" indent="-330200" algn="l" rtl="0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u="non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685800" y="1752601"/>
            <a:ext cx="7772400" cy="761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lang="en-US" sz="4000">
                <a:latin typeface="Times New Roman"/>
                <a:ea typeface="Times New Roman"/>
                <a:cs typeface="Times New Roman"/>
                <a:sym typeface="Times New Roman"/>
              </a:rPr>
              <a:t>Capstone Project Title </a:t>
            </a:r>
            <a:endParaRPr/>
          </a:p>
        </p:txBody>
      </p:sp>
      <p:sp>
        <p:nvSpPr>
          <p:cNvPr id="103" name="Google Shape;103;p1"/>
          <p:cNvSpPr txBox="1">
            <a:spLocks noGrp="1"/>
          </p:cNvSpPr>
          <p:nvPr>
            <p:ph type="subTitle" idx="1"/>
          </p:nvPr>
        </p:nvSpPr>
        <p:spPr>
          <a:xfrm>
            <a:off x="685800" y="2590800"/>
            <a:ext cx="7772400" cy="24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 fontScale="70000" lnSpcReduction="20000"/>
          </a:bodyPr>
          <a:lstStyle/>
          <a:p>
            <a:pPr marL="0" marR="64008" lvl="0" indent="0" algn="r" rtl="0">
              <a:spcBef>
                <a:spcPts val="0"/>
              </a:spcBef>
              <a:spcAft>
                <a:spcPts val="0"/>
              </a:spcAft>
              <a:buSzPct val="68000"/>
              <a:buNone/>
            </a:pPr>
            <a:endParaRPr dirty="0"/>
          </a:p>
          <a:p>
            <a:pPr marL="0" marR="64008" lvl="0" indent="0" algn="r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dirty="0"/>
              <a:t> 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Student Name(s) 		: 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Registration Number 	:			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Course Name and Code 	:		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Faculty    		: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r>
              <a:rPr lang="en-US" b="1" dirty="0">
                <a:latin typeface="Times New Roman"/>
                <a:ea typeface="Times New Roman"/>
                <a:cs typeface="Times New Roman"/>
                <a:sym typeface="Times New Roman"/>
              </a:rPr>
              <a:t>Date  			:31.8.26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64008" lvl="0" indent="0" algn="r" rtl="0">
              <a:spcBef>
                <a:spcPts val="400"/>
              </a:spcBef>
              <a:spcAft>
                <a:spcPts val="0"/>
              </a:spcAft>
              <a:buSzPct val="68000"/>
              <a:buNone/>
            </a:pPr>
            <a:endParaRPr dirty="0"/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381000"/>
            <a:ext cx="8458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8CDDD74-6D72-ED34-3914-3EC210A73554}"/>
              </a:ext>
            </a:extLst>
          </p:cNvPr>
          <p:cNvSpPr txBox="1"/>
          <p:nvPr/>
        </p:nvSpPr>
        <p:spPr>
          <a:xfrm>
            <a:off x="3645408" y="2880360"/>
            <a:ext cx="535228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DHAARANEE SRI  (1919260002)</a:t>
            </a:r>
          </a:p>
          <a:p>
            <a:r>
              <a:rPr lang="en-US" dirty="0"/>
              <a:t>SUBASH SURYA N  (1924260164)</a:t>
            </a:r>
          </a:p>
          <a:p>
            <a:r>
              <a:rPr lang="pt-BR" dirty="0"/>
              <a:t>DURGA DEVI.G  (1921260128)</a:t>
            </a:r>
          </a:p>
          <a:p>
            <a:r>
              <a:rPr lang="en-IN" dirty="0"/>
              <a:t>PADMAPRIYAN M  (1924260030)</a:t>
            </a:r>
          </a:p>
          <a:p>
            <a:r>
              <a:rPr lang="en-IN" dirty="0"/>
              <a:t>SAINDHAVHI JS  (1911260119)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7BAB3-B9EA-E855-1C31-1BBC910F7F7B}"/>
              </a:ext>
            </a:extLst>
          </p:cNvPr>
          <p:cNvSpPr txBox="1"/>
          <p:nvPr/>
        </p:nvSpPr>
        <p:spPr>
          <a:xfrm>
            <a:off x="3645408" y="4049911"/>
            <a:ext cx="33009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CSA0803 - PYTHON PROGRAMMING</a:t>
            </a:r>
          </a:p>
          <a:p>
            <a:r>
              <a:rPr lang="en-IN" dirty="0"/>
              <a:t>Dr Samson Ebenezar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4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720"/>
              <a:buChar char="🞂"/>
            </a:pPr>
            <a:r>
              <a:rPr lang="en-US" sz="4000" b="1" dirty="0"/>
              <a:t>Introduction</a:t>
            </a:r>
            <a:endParaRPr sz="4000" b="1" dirty="0"/>
          </a:p>
        </p:txBody>
      </p:sp>
      <p:sp>
        <p:nvSpPr>
          <p:cNvPr id="110" name="Google Shape;110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2542A08-E5AA-AB50-9C70-04F2658EB09F}"/>
              </a:ext>
            </a:extLst>
          </p:cNvPr>
          <p:cNvSpPr txBox="1"/>
          <p:nvPr/>
        </p:nvSpPr>
        <p:spPr>
          <a:xfrm>
            <a:off x="457200" y="2336800"/>
            <a:ext cx="8128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Digital Transformation in Academics:</a:t>
            </a:r>
            <a:r>
              <a:rPr lang="en-IN" sz="1800" dirty="0"/>
              <a:t> The rapid shift towards computer-based testing requires scalable, error-free assessment platforms.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Overview:</a:t>
            </a:r>
            <a:r>
              <a:rPr lang="en-IN" sz="1800" dirty="0"/>
              <a:t> A centralized Python-based platform designed to create, conduct, and automatically evaluate objective and multiple-choice assessments.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Instant Feedback Mechanism:</a:t>
            </a:r>
            <a:r>
              <a:rPr lang="en-IN" sz="1800" dirty="0"/>
              <a:t> Eliminates delays in score generation through real-time auto-grading algorithms.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b="1" dirty="0"/>
              <a:t>Core Philosophy:</a:t>
            </a:r>
            <a:r>
              <a:rPr lang="en-IN" sz="1800" dirty="0"/>
              <a:t> Reduces logistical overhead, saves paper, and delivers an unbiased evaluation environment.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>
            <a:spLocks noGrp="1"/>
          </p:cNvSpPr>
          <p:nvPr>
            <p:ph type="body" idx="1"/>
          </p:nvPr>
        </p:nvSpPr>
        <p:spPr>
          <a:xfrm>
            <a:off x="457200" y="1554162"/>
            <a:ext cx="8229600" cy="70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Problem Statement</a:t>
            </a:r>
            <a:endParaRPr sz="3600" b="1"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b="1" dirty="0"/>
          </a:p>
        </p:txBody>
      </p:sp>
      <p:sp>
        <p:nvSpPr>
          <p:cNvPr id="117" name="Google Shape;11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A5DB526-8214-E87E-4FEA-FC8AB492CF18}"/>
              </a:ext>
            </a:extLst>
          </p:cNvPr>
          <p:cNvSpPr txBox="1"/>
          <p:nvPr/>
        </p:nvSpPr>
        <p:spPr>
          <a:xfrm>
            <a:off x="741680" y="2418080"/>
            <a:ext cx="794512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Time-Consuming Manual Grading:</a:t>
            </a:r>
            <a:r>
              <a:rPr lang="en-IN" sz="2000" dirty="0"/>
              <a:t> Traditional paper-based exams require extensive manual grading, leading to human error and delays.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Resource Inefficiency:</a:t>
            </a:r>
            <a:r>
              <a:rPr lang="en-IN" sz="2000" dirty="0"/>
              <a:t> High consumption of physical resources (paper, printing, invigilation coordination).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Security &amp; Cheating Risks:</a:t>
            </a:r>
            <a:r>
              <a:rPr lang="en-IN" sz="2000" dirty="0"/>
              <a:t> Challenges in maintaining question randomization and prevent unauthorized access during tests.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Inconsistency:</a:t>
            </a:r>
            <a:r>
              <a:rPr lang="en-IN" sz="2000" dirty="0"/>
              <a:t> Difficulties in securely storing, tracking, and retrieving historical student test records.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 txBox="1">
            <a:spLocks noGrp="1"/>
          </p:cNvSpPr>
          <p:nvPr>
            <p:ph type="body" idx="1"/>
          </p:nvPr>
        </p:nvSpPr>
        <p:spPr>
          <a:xfrm>
            <a:off x="457200" y="1613409"/>
            <a:ext cx="8229600" cy="814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Objectives of the Project</a:t>
            </a:r>
            <a:endParaRPr sz="3600" b="1"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24" name="Google Shape;124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5" name="Google Shape;12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542A63-DEB0-C5E6-06EC-D3638415D910}"/>
              </a:ext>
            </a:extLst>
          </p:cNvPr>
          <p:cNvSpPr txBox="1"/>
          <p:nvPr/>
        </p:nvSpPr>
        <p:spPr>
          <a:xfrm>
            <a:off x="375920" y="2428241"/>
            <a:ext cx="851408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Automate Assessment:</a:t>
            </a:r>
            <a:r>
              <a:rPr lang="en-IN" sz="1600" dirty="0"/>
              <a:t> Develop an algorithmic auto-evaluation pipeline for instant result generation.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Role-Based Access:</a:t>
            </a:r>
            <a:r>
              <a:rPr lang="en-IN" sz="1600" dirty="0"/>
              <a:t> Provide distinct panels with proper authentication for </a:t>
            </a:r>
            <a:r>
              <a:rPr lang="en-IN" sz="1600" b="1" dirty="0"/>
              <a:t>Administrators/Teachers</a:t>
            </a:r>
            <a:r>
              <a:rPr lang="en-IN" sz="1600" dirty="0"/>
              <a:t> and </a:t>
            </a:r>
            <a:r>
              <a:rPr lang="en-IN" sz="1600" b="1" dirty="0"/>
              <a:t>Students</a:t>
            </a:r>
            <a:r>
              <a:rPr lang="en-IN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Question Bank Management:</a:t>
            </a:r>
            <a:r>
              <a:rPr lang="en-IN" sz="1600" dirty="0"/>
              <a:t> Enable teachers to add, modify, categorize, and randomize questions.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Performance Analytics:</a:t>
            </a:r>
            <a:r>
              <a:rPr lang="en-IN" sz="1600" dirty="0"/>
              <a:t> Automatically generate scorecards and performance summaries for students and faculty.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b="1" dirty="0"/>
              <a:t>Integrity &amp; Time Limits:</a:t>
            </a:r>
            <a:r>
              <a:rPr lang="en-IN" sz="1600" dirty="0"/>
              <a:t> Implement real-time countdown timers and auto-submission upon timer expiration.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345440" y="1422082"/>
            <a:ext cx="8229600" cy="652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Scope of the Project</a:t>
            </a:r>
            <a:endParaRPr sz="3600" b="1"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593A530-454E-15F3-0AE1-FAFA39627D30}"/>
              </a:ext>
            </a:extLst>
          </p:cNvPr>
          <p:cNvSpPr txBox="1"/>
          <p:nvPr/>
        </p:nvSpPr>
        <p:spPr>
          <a:xfrm>
            <a:off x="701040" y="2074354"/>
            <a:ext cx="77216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In-Scope:</a:t>
            </a:r>
            <a:endParaRPr lang="en-IN" sz="1800" dirty="0"/>
          </a:p>
          <a:p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User registration and role-based login (Admin/Teacher &amp; Student).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Timed MCQ tests with automated randomized question ordering.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Instant auto-grading against standard answer keys.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800" dirty="0"/>
              <a:t>Exporting results/analytics to CSV/PDF or dashboard viewing.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F693C0-7EFF-0A0B-E966-821D86FAC36F}"/>
              </a:ext>
            </a:extLst>
          </p:cNvPr>
          <p:cNvSpPr txBox="1"/>
          <p:nvPr/>
        </p:nvSpPr>
        <p:spPr>
          <a:xfrm>
            <a:off x="701040" y="4783647"/>
            <a:ext cx="8839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800" b="1" dirty="0"/>
              <a:t>Out-of-Scope (Future Enhancements):</a:t>
            </a:r>
          </a:p>
          <a:p>
            <a:pPr>
              <a:buNone/>
            </a:pPr>
            <a:endParaRPr lang="en-IN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Advanced subjective long-answer grading using NLP.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800" dirty="0"/>
              <a:t>AI-based remote webcam proctoring and biometric identity verification</a:t>
            </a:r>
            <a:r>
              <a:rPr lang="en-IN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>
            <a:spLocks noGrp="1"/>
          </p:cNvSpPr>
          <p:nvPr>
            <p:ph type="body" idx="1"/>
          </p:nvPr>
        </p:nvSpPr>
        <p:spPr>
          <a:xfrm>
            <a:off x="457200" y="1330621"/>
            <a:ext cx="8229600" cy="69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Related Work</a:t>
            </a:r>
            <a:endParaRPr dirty="0"/>
          </a:p>
          <a:p>
            <a:pPr marL="621792" lvl="1" indent="-228600" algn="l" rtl="0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endParaRPr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0947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EC83D0-51D2-E5D3-5AB7-5E70782B31B2}"/>
              </a:ext>
            </a:extLst>
          </p:cNvPr>
          <p:cNvSpPr txBox="1"/>
          <p:nvPr/>
        </p:nvSpPr>
        <p:spPr>
          <a:xfrm>
            <a:off x="457200" y="2023533"/>
            <a:ext cx="8686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Previous Systems &amp; Technologies</a:t>
            </a:r>
            <a:r>
              <a:rPr lang="en-IN" sz="2000" dirty="0"/>
              <a:t>: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dirty="0"/>
              <a:t>System 1:</a:t>
            </a:r>
            <a:r>
              <a:rPr lang="en-IN" sz="2000" dirty="0"/>
              <a:t> </a:t>
            </a:r>
            <a:r>
              <a:rPr lang="en-IN" sz="2000" b="1" dirty="0"/>
              <a:t>Native Desktop GUI Application:</a:t>
            </a:r>
            <a:r>
              <a:rPr lang="en-IN" sz="2000" dirty="0"/>
              <a:t> Built using Python's </a:t>
            </a:r>
            <a:r>
              <a:rPr lang="en-IN" dirty="0" err="1"/>
              <a:t>tkinter</a:t>
            </a:r>
            <a:r>
              <a:rPr lang="en-IN" sz="2000" dirty="0"/>
              <a:t> library to eliminate browser dependencies, external hosting costs, and network loading delays.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dirty="0"/>
              <a:t>System 2:</a:t>
            </a:r>
            <a:r>
              <a:rPr lang="en-IN" sz="2000" dirty="0"/>
              <a:t> </a:t>
            </a:r>
            <a:r>
              <a:rPr lang="en-IN" sz="2000" b="1" dirty="0"/>
              <a:t>Lightweight &amp; Standalone execution:</a:t>
            </a:r>
            <a:r>
              <a:rPr lang="en-IN" sz="2000" dirty="0"/>
              <a:t> Runs directly on standard desktop environments with minimal dependencies and fast GUI rendering.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i="1" dirty="0"/>
              <a:t>System 3: </a:t>
            </a:r>
            <a:r>
              <a:rPr lang="en-IN" sz="2000" b="1" dirty="0"/>
              <a:t>Structured Test &amp; Timer Management:</a:t>
            </a:r>
            <a:r>
              <a:rPr lang="en-IN" sz="2000" dirty="0"/>
              <a:t> Features direct event-driven UI updates for precise exam time tracking, dynamic question rendering, and real-time score processing.</a:t>
            </a:r>
          </a:p>
          <a:p>
            <a:r>
              <a:rPr lang="en-IN" sz="20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54EBFA2-97B8-527A-CC2F-EAC4DEF2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>
            <a:extLst>
              <a:ext uri="{FF2B5EF4-FFF2-40B4-BE49-F238E27FC236}">
                <a16:creationId xmlns:a16="http://schemas.microsoft.com/office/drawing/2014/main" id="{87D20722-EEC4-399B-6484-6A4ED834E0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69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Related Work</a:t>
            </a:r>
            <a:endParaRPr dirty="0"/>
          </a:p>
          <a:p>
            <a:pPr marL="621792" lvl="1" indent="-228600" algn="l" rtl="0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endParaRPr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38" name="Google Shape;138;p6">
            <a:extLst>
              <a:ext uri="{FF2B5EF4-FFF2-40B4-BE49-F238E27FC236}">
                <a16:creationId xmlns:a16="http://schemas.microsoft.com/office/drawing/2014/main" id="{E6001F02-00C2-3B84-2E80-5B051E7AEB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6">
            <a:extLst>
              <a:ext uri="{FF2B5EF4-FFF2-40B4-BE49-F238E27FC236}">
                <a16:creationId xmlns:a16="http://schemas.microsoft.com/office/drawing/2014/main" id="{34186491-C06E-94BF-34B7-E30DEED5D6F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49B2FB-6C53-FD9A-647F-DDFED9A4A751}"/>
              </a:ext>
            </a:extLst>
          </p:cNvPr>
          <p:cNvSpPr txBox="1"/>
          <p:nvPr/>
        </p:nvSpPr>
        <p:spPr>
          <a:xfrm>
            <a:off x="457200" y="2326640"/>
            <a:ext cx="841248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Identified Gaps to fill</a:t>
            </a:r>
            <a:r>
              <a:rPr lang="en-IN" sz="2000" dirty="0"/>
              <a:t>:</a:t>
            </a:r>
          </a:p>
          <a:p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Need for lightweight, rapid Python implementation with structured database integration.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Better randomized question distribution to minimize peer-to-peer malpractice.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Lack of instant visual analytics and report generation for students.</a:t>
            </a:r>
          </a:p>
          <a:p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1610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FE18509-2A1D-E581-3DBD-A9B7016B9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>
            <a:extLst>
              <a:ext uri="{FF2B5EF4-FFF2-40B4-BE49-F238E27FC236}">
                <a16:creationId xmlns:a16="http://schemas.microsoft.com/office/drawing/2014/main" id="{C8C5A756-6F47-26EE-5701-FB5EED471D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3630" y="1438976"/>
            <a:ext cx="8229600" cy="69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200" b="1" dirty="0"/>
              <a:t>Literature Review</a:t>
            </a:r>
            <a:endParaRPr sz="2400" dirty="0"/>
          </a:p>
          <a:p>
            <a:pPr marL="365760" lvl="0" indent="-139446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38" name="Google Shape;138;p6">
            <a:extLst>
              <a:ext uri="{FF2B5EF4-FFF2-40B4-BE49-F238E27FC236}">
                <a16:creationId xmlns:a16="http://schemas.microsoft.com/office/drawing/2014/main" id="{A0A9F3D5-4BD5-ECCD-3F49-7D303D7CE8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9" name="Google Shape;139;p6">
            <a:extLst>
              <a:ext uri="{FF2B5EF4-FFF2-40B4-BE49-F238E27FC236}">
                <a16:creationId xmlns:a16="http://schemas.microsoft.com/office/drawing/2014/main" id="{2BA9DAB8-F577-B82E-4356-371E765C01C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201952"/>
            <a:ext cx="88392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BDCACB-7544-30D7-5DB0-C4EF18CC84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661" y="2177608"/>
            <a:ext cx="8141539" cy="4375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62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>
            <a:spLocks noGrp="1"/>
          </p:cNvSpPr>
          <p:nvPr>
            <p:ph type="body" idx="1"/>
          </p:nvPr>
        </p:nvSpPr>
        <p:spPr>
          <a:xfrm>
            <a:off x="386080" y="1467710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Methodology / System Design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45" name="Google Shape;145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92417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42D3EC-C2FE-F72B-B020-DCC5E8A7984B}"/>
              </a:ext>
            </a:extLst>
          </p:cNvPr>
          <p:cNvSpPr txBox="1"/>
          <p:nvPr/>
        </p:nvSpPr>
        <p:spPr>
          <a:xfrm>
            <a:off x="467360" y="2158302"/>
            <a:ext cx="837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u="sng" dirty="0"/>
              <a:t>Deployment &amp; Initialization: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6A3063-A329-9B0A-3A22-747534F43843}"/>
              </a:ext>
            </a:extLst>
          </p:cNvPr>
          <p:cNvSpPr txBox="1"/>
          <p:nvPr/>
        </p:nvSpPr>
        <p:spPr>
          <a:xfrm>
            <a:off x="386080" y="2571344"/>
            <a:ext cx="840232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Extract the project </a:t>
            </a:r>
            <a:r>
              <a:rPr lang="en-IN" dirty="0"/>
              <a:t>.zip</a:t>
            </a:r>
            <a:r>
              <a:rPr lang="en-IN" sz="2000" dirty="0"/>
              <a:t> file and run </a:t>
            </a:r>
            <a:r>
              <a:rPr lang="en-IN" dirty="0"/>
              <a:t>main.py</a:t>
            </a:r>
            <a:r>
              <a:rPr lang="en-IN" sz="2000" dirty="0"/>
              <a:t> using Python runtime. 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System initializes into a desktop-native </a:t>
            </a:r>
            <a:r>
              <a:rPr lang="en-IN" sz="2000" dirty="0" err="1"/>
              <a:t>Tkinter</a:t>
            </a:r>
            <a:r>
              <a:rPr lang="en-IN" sz="2000" dirty="0"/>
              <a:t> GUI </a:t>
            </a:r>
            <a:r>
              <a:rPr lang="en-IN" sz="2000" b="1" dirty="0"/>
              <a:t>Start Exam</a:t>
            </a:r>
            <a:r>
              <a:rPr lang="en-IN" sz="2000" dirty="0"/>
              <a:t> landing interface.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161A78-84F0-8840-0183-5EDC181AA232}"/>
              </a:ext>
            </a:extLst>
          </p:cNvPr>
          <p:cNvSpPr txBox="1"/>
          <p:nvPr/>
        </p:nvSpPr>
        <p:spPr>
          <a:xfrm>
            <a:off x="386080" y="3840895"/>
            <a:ext cx="519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2. Exam Session &amp; Timed Execution: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3E75D0-2D7C-2BEB-6048-1214FD4538DB}"/>
                  </a:ext>
                </a:extLst>
              </p:cNvPr>
              <p:cNvSpPr txBox="1"/>
              <p:nvPr/>
            </p:nvSpPr>
            <p:spPr>
              <a:xfrm>
                <a:off x="309880" y="4241005"/>
                <a:ext cx="8686800" cy="18466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sz="1800" dirty="0"/>
                  <a:t>User taps </a:t>
                </a:r>
                <a:r>
                  <a:rPr lang="en-IN" sz="1800" b="1" dirty="0"/>
                  <a:t>Start Exam</a:t>
                </a:r>
                <a:r>
                  <a:rPr lang="en-IN" sz="1800" dirty="0"/>
                  <a:t> </a:t>
                </a:r>
                <a14:m>
                  <m:oMath xmlns:m="http://schemas.openxmlformats.org/officeDocument/2006/math">
                    <m:r>
                      <a:rPr lang="en-IN" sz="180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1800" dirty="0"/>
                  <a:t>Triggers the active </a:t>
                </a:r>
                <a:r>
                  <a:rPr lang="en-IN" sz="1800" b="1" dirty="0"/>
                  <a:t>10-minute countdown timer</a:t>
                </a:r>
                <a:r>
                  <a:rPr lang="en-IN" sz="1800" dirty="0"/>
                  <a:t> using Python event loops (after method).</a:t>
                </a:r>
                <a:r>
                  <a:rPr lang="en-IN" sz="2800" dirty="0"/>
                  <a:t>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IN" sz="28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2000" dirty="0"/>
                  <a:t>Dynamic multiple-choice questions (MCQs) are displayed sequentially using </a:t>
                </a:r>
                <a:r>
                  <a:rPr lang="en-IN" sz="2000" dirty="0" err="1"/>
                  <a:t>Tkinter</a:t>
                </a:r>
                <a:r>
                  <a:rPr lang="en-IN" sz="2000" dirty="0"/>
                  <a:t> widget components.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F3E75D0-2D7C-2BEB-6048-1214FD4538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880" y="4241005"/>
                <a:ext cx="8686800" cy="1846659"/>
              </a:xfrm>
              <a:prstGeom prst="rect">
                <a:avLst/>
              </a:prstGeom>
              <a:blipFill>
                <a:blip r:embed="rId4"/>
                <a:stretch>
                  <a:fillRect l="-632" t="-1980" b="-52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BC732F3A-964F-1C68-813E-D3C60DB66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>
            <a:extLst>
              <a:ext uri="{FF2B5EF4-FFF2-40B4-BE49-F238E27FC236}">
                <a16:creationId xmlns:a16="http://schemas.microsoft.com/office/drawing/2014/main" id="{FE2C7E93-99EB-7081-3FE4-4FA99017D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6080" y="1678666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Methodology / System Design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45" name="Google Shape;145;p7">
            <a:extLst>
              <a:ext uri="{FF2B5EF4-FFF2-40B4-BE49-F238E27FC236}">
                <a16:creationId xmlns:a16="http://schemas.microsoft.com/office/drawing/2014/main" id="{7C95D5A8-9561-BE38-43A5-6044FE6C8A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7">
            <a:extLst>
              <a:ext uri="{FF2B5EF4-FFF2-40B4-BE49-F238E27FC236}">
                <a16:creationId xmlns:a16="http://schemas.microsoft.com/office/drawing/2014/main" id="{20A19555-DBA9-81D1-26E3-B224DE0264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174628A-FB2A-3C54-37B9-D26D44DE532B}"/>
              </a:ext>
            </a:extLst>
          </p:cNvPr>
          <p:cNvSpPr txBox="1"/>
          <p:nvPr/>
        </p:nvSpPr>
        <p:spPr>
          <a:xfrm>
            <a:off x="386080" y="2396196"/>
            <a:ext cx="837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3. Response Capture &amp; Auto-Evaluation: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A8461-4184-0522-6DF2-1BD7D0952ADC}"/>
              </a:ext>
            </a:extLst>
          </p:cNvPr>
          <p:cNvSpPr txBox="1"/>
          <p:nvPr/>
        </p:nvSpPr>
        <p:spPr>
          <a:xfrm>
            <a:off x="386080" y="2898283"/>
            <a:ext cx="840232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Candidate selects responses for the MCQ set.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IN" sz="2000" dirty="0"/>
              <a:t>System automatically compares selected choices against stored answer keys upon manual submission or timer expiration.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C0222-88AB-CF21-1E89-336052980040}"/>
              </a:ext>
            </a:extLst>
          </p:cNvPr>
          <p:cNvSpPr txBox="1"/>
          <p:nvPr/>
        </p:nvSpPr>
        <p:spPr>
          <a:xfrm>
            <a:off x="355600" y="4129389"/>
            <a:ext cx="51917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/>
              <a:t>4. Result Generation &amp; Retake: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3A8FE9-CE53-C383-9D90-163576AB8673}"/>
              </a:ext>
            </a:extLst>
          </p:cNvPr>
          <p:cNvSpPr txBox="1"/>
          <p:nvPr/>
        </p:nvSpPr>
        <p:spPr>
          <a:xfrm>
            <a:off x="355600" y="4563781"/>
            <a:ext cx="8686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Instant Result Page:</a:t>
            </a:r>
            <a:r>
              <a:rPr lang="en-IN" sz="2000" dirty="0"/>
              <a:t> Displays total score, calculated percentage, and performance summary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Retake Mechanism:</a:t>
            </a:r>
            <a:r>
              <a:rPr lang="en-IN" sz="2000" dirty="0"/>
              <a:t> Enables candidates to reset the session and restart the examination cleanly..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lvl="1"/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80332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>
          <a:extLst>
            <a:ext uri="{FF2B5EF4-FFF2-40B4-BE49-F238E27FC236}">
              <a16:creationId xmlns:a16="http://schemas.microsoft.com/office/drawing/2014/main" id="{45653FE2-FF84-9607-D8C8-DB1BD8551D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>
            <a:extLst>
              <a:ext uri="{FF2B5EF4-FFF2-40B4-BE49-F238E27FC236}">
                <a16:creationId xmlns:a16="http://schemas.microsoft.com/office/drawing/2014/main" id="{19A5026C-60D2-4B07-FB03-992A08BF2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6080" y="1678666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Methodology / System Design</a:t>
            </a: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45" name="Google Shape;145;p7">
            <a:extLst>
              <a:ext uri="{FF2B5EF4-FFF2-40B4-BE49-F238E27FC236}">
                <a16:creationId xmlns:a16="http://schemas.microsoft.com/office/drawing/2014/main" id="{9D69F824-21AC-8FC5-9AAC-2F0262E8CC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" name="Google Shape;146;p7">
            <a:extLst>
              <a:ext uri="{FF2B5EF4-FFF2-40B4-BE49-F238E27FC236}">
                <a16:creationId xmlns:a16="http://schemas.microsoft.com/office/drawing/2014/main" id="{CF28B6F0-F486-B467-C30C-2FF019E0DB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A7958FE-CE42-A948-7654-173878730362}"/>
              </a:ext>
            </a:extLst>
          </p:cNvPr>
          <p:cNvSpPr txBox="1"/>
          <p:nvPr/>
        </p:nvSpPr>
        <p:spPr>
          <a:xfrm>
            <a:off x="3321050" y="2367439"/>
            <a:ext cx="4576232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Extract ZIP &amp; Run main.py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 </a:t>
            </a:r>
            <a:r>
              <a:rPr lang="en-IN" dirty="0" err="1"/>
              <a:t>Tkinter</a:t>
            </a:r>
            <a:r>
              <a:rPr lang="en-IN" dirty="0"/>
              <a:t> Main Window / Start Screen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[ Start Timer (10 Min) &amp; Load MCQs ] 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 Record Candidate Answers 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Submit / Auto-Submit on Timeout  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 Auto-Evaluation Engine</a:t>
            </a:r>
          </a:p>
          <a:p>
            <a:r>
              <a:rPr lang="en-IN" dirty="0"/>
              <a:t>            │</a:t>
            </a:r>
          </a:p>
          <a:p>
            <a:r>
              <a:rPr lang="en-IN" dirty="0"/>
              <a:t>            ▼</a:t>
            </a:r>
          </a:p>
          <a:p>
            <a:r>
              <a:rPr lang="en-IN" dirty="0"/>
              <a:t>[ Display Score, % &amp; Retake Option 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D4DDB6-8FEB-9EAB-9B92-910CDFC52CFB}"/>
              </a:ext>
            </a:extLst>
          </p:cNvPr>
          <p:cNvSpPr/>
          <p:nvPr/>
        </p:nvSpPr>
        <p:spPr>
          <a:xfrm>
            <a:off x="3321050" y="2367439"/>
            <a:ext cx="2504017" cy="306125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740931-AECA-5993-346B-BEB525EC2B16}"/>
              </a:ext>
            </a:extLst>
          </p:cNvPr>
          <p:cNvSpPr/>
          <p:nvPr/>
        </p:nvSpPr>
        <p:spPr>
          <a:xfrm>
            <a:off x="3321050" y="3031067"/>
            <a:ext cx="3177286" cy="278765"/>
          </a:xfrm>
          <a:prstGeom prst="rect">
            <a:avLst/>
          </a:prstGeom>
          <a:noFill/>
          <a:ln w="38100" cap="flat" cmpd="sng" algn="ctr">
            <a:solidFill>
              <a:srgbClr val="EB641B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189E4F-7E92-DEA7-2090-95887E19D63A}"/>
              </a:ext>
            </a:extLst>
          </p:cNvPr>
          <p:cNvSpPr/>
          <p:nvPr/>
        </p:nvSpPr>
        <p:spPr>
          <a:xfrm>
            <a:off x="3321050" y="3611301"/>
            <a:ext cx="3473289" cy="301467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1D728AC-6CE6-BD15-44DA-D70A1C91FB13}"/>
              </a:ext>
            </a:extLst>
          </p:cNvPr>
          <p:cNvSpPr/>
          <p:nvPr/>
        </p:nvSpPr>
        <p:spPr>
          <a:xfrm>
            <a:off x="3321049" y="4334892"/>
            <a:ext cx="2755659" cy="286902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8997B-61A6-1354-F692-D1EF072A9AD5}"/>
              </a:ext>
            </a:extLst>
          </p:cNvPr>
          <p:cNvSpPr/>
          <p:nvPr/>
        </p:nvSpPr>
        <p:spPr>
          <a:xfrm>
            <a:off x="3321050" y="4907666"/>
            <a:ext cx="3056601" cy="286902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8DB4AC8-13C7-D5FD-841E-11B857D93D14}"/>
              </a:ext>
            </a:extLst>
          </p:cNvPr>
          <p:cNvSpPr/>
          <p:nvPr/>
        </p:nvSpPr>
        <p:spPr>
          <a:xfrm>
            <a:off x="3321049" y="5578997"/>
            <a:ext cx="2504018" cy="304344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671FFB-E6C9-1D7D-F07B-EF4BA2B7DEBF}"/>
              </a:ext>
            </a:extLst>
          </p:cNvPr>
          <p:cNvSpPr/>
          <p:nvPr/>
        </p:nvSpPr>
        <p:spPr>
          <a:xfrm>
            <a:off x="3321049" y="6204030"/>
            <a:ext cx="3056601" cy="309958"/>
          </a:xfrm>
          <a:prstGeom prst="rect">
            <a:avLst/>
          </a:prstGeom>
          <a:noFill/>
          <a:ln w="381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39377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03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Module Description</a:t>
            </a:r>
            <a:endParaRPr dirty="0"/>
          </a:p>
          <a:p>
            <a:pPr marL="621792" lvl="1" indent="-228600" algn="l" rtl="0">
              <a:spcBef>
                <a:spcPts val="324"/>
              </a:spcBef>
              <a:spcAft>
                <a:spcPts val="0"/>
              </a:spcAft>
              <a:buSzPts val="2300"/>
              <a:buChar char="◦"/>
            </a:pPr>
            <a:endParaRPr dirty="0"/>
          </a:p>
          <a:p>
            <a:pPr marL="621792" lvl="1" indent="-82550" algn="l" rtl="0">
              <a:spcBef>
                <a:spcPts val="324"/>
              </a:spcBef>
              <a:spcAft>
                <a:spcPts val="0"/>
              </a:spcAft>
              <a:buSzPts val="2300"/>
              <a:buNone/>
            </a:pPr>
            <a:endParaRPr dirty="0"/>
          </a:p>
          <a:p>
            <a:pPr marL="365760" lvl="0" indent="-256032" algn="l" rtl="0">
              <a:spcBef>
                <a:spcPts val="400"/>
              </a:spcBef>
              <a:spcAft>
                <a:spcPts val="0"/>
              </a:spcAft>
              <a:buSzPts val="1836"/>
              <a:buNone/>
            </a:pPr>
            <a:endParaRPr dirty="0"/>
          </a:p>
        </p:txBody>
      </p:sp>
      <p:sp>
        <p:nvSpPr>
          <p:cNvPr id="152" name="Google Shape;152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D1DFBE-AD92-93B3-FA7A-E63F17DD61D1}"/>
              </a:ext>
            </a:extLst>
          </p:cNvPr>
          <p:cNvSpPr txBox="1"/>
          <p:nvPr/>
        </p:nvSpPr>
        <p:spPr>
          <a:xfrm>
            <a:off x="386080" y="2259449"/>
            <a:ext cx="8229600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u="sng" dirty="0"/>
              <a:t>User GUI &amp; Interface Module</a:t>
            </a:r>
            <a:r>
              <a:rPr lang="en-IN" sz="1800" b="1" dirty="0"/>
              <a:t>:</a:t>
            </a:r>
            <a:r>
              <a:rPr lang="en-IN" sz="1800" dirty="0"/>
              <a:t> Renders the main window using Python </a:t>
            </a:r>
            <a:r>
              <a:rPr lang="en-IN" sz="1800" dirty="0" err="1"/>
              <a:t>Tkinter</a:t>
            </a:r>
            <a:r>
              <a:rPr lang="en-IN" sz="1800" dirty="0"/>
              <a:t> components (Labels, Buttons, </a:t>
            </a:r>
            <a:r>
              <a:rPr lang="en-IN" sz="1800" dirty="0" err="1"/>
              <a:t>Radiobuttons</a:t>
            </a:r>
            <a:r>
              <a:rPr lang="en-IN" sz="1800" dirty="0"/>
              <a:t>) for seamless exam navigation</a:t>
            </a:r>
          </a:p>
          <a:p>
            <a:endParaRPr lang="en-IN" sz="1800" dirty="0"/>
          </a:p>
          <a:p>
            <a:r>
              <a:rPr lang="en-IN" sz="1800" b="1" u="sng" dirty="0"/>
              <a:t>Question Data Module</a:t>
            </a:r>
            <a:r>
              <a:rPr lang="en-IN" sz="1800" b="1" dirty="0"/>
              <a:t>:</a:t>
            </a:r>
            <a:r>
              <a:rPr lang="en-IN" sz="1800" dirty="0"/>
              <a:t> Manages the structured list of multiple-choice questions, options, and correct answers directly within Python data structures. </a:t>
            </a:r>
          </a:p>
          <a:p>
            <a:endParaRPr lang="en-IN" sz="1800" dirty="0"/>
          </a:p>
          <a:p>
            <a:r>
              <a:rPr lang="en-IN" sz="1800" b="1" u="sng" dirty="0"/>
              <a:t>Timer &amp; Session Engine Module</a:t>
            </a:r>
            <a:r>
              <a:rPr lang="en-IN" sz="1800" b="1" dirty="0"/>
              <a:t>:</a:t>
            </a:r>
            <a:r>
              <a:rPr lang="en-IN" sz="1800" dirty="0"/>
              <a:t> Controls the 10-minute countdown using Python event loops (</a:t>
            </a:r>
            <a:r>
              <a:rPr lang="en-IN" sz="1200" dirty="0"/>
              <a:t>after</a:t>
            </a:r>
            <a:r>
              <a:rPr lang="en-IN" sz="1800" dirty="0"/>
              <a:t> method) and handles candidate selection tracking.</a:t>
            </a:r>
          </a:p>
          <a:p>
            <a:endParaRPr lang="en-IN" sz="2000" dirty="0"/>
          </a:p>
          <a:p>
            <a:r>
              <a:rPr lang="en-IN" sz="1800" b="1" u="sng" dirty="0"/>
              <a:t>Auto-Evaluation &amp; Results Module</a:t>
            </a:r>
            <a:r>
              <a:rPr lang="en-IN" sz="1800" b="1" dirty="0"/>
              <a:t>:</a:t>
            </a:r>
            <a:r>
              <a:rPr lang="en-IN" sz="1800" dirty="0"/>
              <a:t> Computes total scores and percentages upon submission or timeout, presenting the final feedback and retake option dynamically.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74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Expected Outcome</a:t>
            </a:r>
            <a:endParaRPr sz="3600" b="1" dirty="0"/>
          </a:p>
        </p:txBody>
      </p:sp>
      <p:sp>
        <p:nvSpPr>
          <p:cNvPr id="159" name="Google Shape;15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6272B9-9810-7D8B-59A4-C2D4DC7C3E9F}"/>
              </a:ext>
            </a:extLst>
          </p:cNvPr>
          <p:cNvSpPr txBox="1"/>
          <p:nvPr/>
        </p:nvSpPr>
        <p:spPr>
          <a:xfrm>
            <a:off x="335280" y="2255521"/>
            <a:ext cx="835152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Automated Result Pipeline:</a:t>
            </a:r>
            <a:r>
              <a:rPr lang="en-IN" sz="2000" dirty="0"/>
              <a:t> 100% reduction in grading turnaround time with zero human calculation errors.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Comprehensive Dashboards:</a:t>
            </a:r>
            <a:r>
              <a:rPr lang="en-IN" sz="2000" dirty="0"/>
              <a:t> Instant student performance summaries with percentage breakdown and answer reviews.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High Efficiency &amp; Scalability:</a:t>
            </a:r>
            <a:r>
              <a:rPr lang="en-IN" sz="2000" dirty="0"/>
              <a:t> Lightweight Python architecture capable of managing multiple exams simultaneously.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Data Portability:</a:t>
            </a:r>
            <a:r>
              <a:rPr lang="en-IN" sz="2000" dirty="0"/>
              <a:t> Clean export of class grade sheets in structured formats (CSV/Database tables).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41A50FED-1688-02BA-0F26-34CC8865F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>
            <a:extLst>
              <a:ext uri="{FF2B5EF4-FFF2-40B4-BE49-F238E27FC236}">
                <a16:creationId xmlns:a16="http://schemas.microsoft.com/office/drawing/2014/main" id="{2DD285F1-2138-4E4F-B5AD-48BE93FB89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Tools and Technologies</a:t>
            </a:r>
            <a:endParaRPr sz="3600" b="1" dirty="0"/>
          </a:p>
        </p:txBody>
      </p:sp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ED8BA54F-D0A7-928F-1DA9-AA12DAF90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0">
            <a:extLst>
              <a:ext uri="{FF2B5EF4-FFF2-40B4-BE49-F238E27FC236}">
                <a16:creationId xmlns:a16="http://schemas.microsoft.com/office/drawing/2014/main" id="{095F6994-4583-E429-BC9E-8A57AFD0F17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AA71941-CAAC-F33A-3064-59D33AC485A7}"/>
              </a:ext>
            </a:extLst>
          </p:cNvPr>
          <p:cNvSpPr txBox="1"/>
          <p:nvPr/>
        </p:nvSpPr>
        <p:spPr>
          <a:xfrm>
            <a:off x="542544" y="2172026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Frontend &amp; Structure: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13E140-A03E-932D-6341-4A8791618E79}"/>
              </a:ext>
            </a:extLst>
          </p:cNvPr>
          <p:cNvSpPr txBox="1"/>
          <p:nvPr/>
        </p:nvSpPr>
        <p:spPr>
          <a:xfrm>
            <a:off x="254000" y="2695246"/>
            <a:ext cx="87376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dirty="0"/>
              <a:t>.</a:t>
            </a:r>
            <a:r>
              <a:rPr lang="en-IN" sz="2000" b="1" dirty="0"/>
              <a:t> Python </a:t>
            </a:r>
            <a:r>
              <a:rPr lang="en-IN" sz="2000" b="1" dirty="0" err="1"/>
              <a:t>Tkinter</a:t>
            </a:r>
            <a:r>
              <a:rPr lang="en-IN" sz="2000" b="1" dirty="0"/>
              <a:t>:</a:t>
            </a:r>
            <a:r>
              <a:rPr lang="en-IN" sz="2000" dirty="0"/>
              <a:t> Serves as the primary graphical framework to build native desktop GUI windows, frames, buttons, labels, and radio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 err="1"/>
              <a:t>Tkinter</a:t>
            </a:r>
            <a:r>
              <a:rPr lang="en-IN" sz="2000" b="1" dirty="0"/>
              <a:t> Canvas / Geometry Managers:</a:t>
            </a:r>
            <a:r>
              <a:rPr lang="en-IN" sz="2000" dirty="0"/>
              <a:t> Handles dynamic layout positioning and visual formatting natively within the desktop application.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996BA-37DE-866E-C12B-58C69456C9D8}"/>
              </a:ext>
            </a:extLst>
          </p:cNvPr>
          <p:cNvSpPr txBox="1"/>
          <p:nvPr/>
        </p:nvSpPr>
        <p:spPr>
          <a:xfrm>
            <a:off x="542544" y="4499884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Core Logic &amp; Scripting:</a:t>
            </a:r>
            <a:endParaRPr lang="en-IN" sz="2800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23AC15-FBA7-468A-8E22-385B88CB4776}"/>
              </a:ext>
            </a:extLst>
          </p:cNvPr>
          <p:cNvSpPr txBox="1"/>
          <p:nvPr/>
        </p:nvSpPr>
        <p:spPr>
          <a:xfrm>
            <a:off x="633984" y="5023104"/>
            <a:ext cx="79674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 </a:t>
            </a:r>
            <a:r>
              <a:rPr lang="en-IN" sz="2000" b="1" dirty="0"/>
              <a:t>Python: </a:t>
            </a:r>
            <a:r>
              <a:rPr lang="en-IN" sz="2000" dirty="0"/>
              <a:t>Powers application initialization, active 10-minute timer threads/event loops, MCQ state tracking, dynamic score calculation, and exam reset logic</a:t>
            </a:r>
          </a:p>
        </p:txBody>
      </p:sp>
    </p:spTree>
    <p:extLst>
      <p:ext uri="{BB962C8B-B14F-4D97-AF65-F5344CB8AC3E}">
        <p14:creationId xmlns:p14="http://schemas.microsoft.com/office/powerpoint/2010/main" val="3669781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2A99E88F-7F49-9256-8B32-1B50E1EA6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>
            <a:extLst>
              <a:ext uri="{FF2B5EF4-FFF2-40B4-BE49-F238E27FC236}">
                <a16:creationId xmlns:a16="http://schemas.microsoft.com/office/drawing/2014/main" id="{A3FCD363-EFA5-7F81-5F0C-F17DF34B1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Tools and Technologies</a:t>
            </a:r>
            <a:endParaRPr sz="3600" b="1" dirty="0"/>
          </a:p>
        </p:txBody>
      </p:sp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8314ED97-62CA-796A-B3C9-A165370EC2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0">
            <a:extLst>
              <a:ext uri="{FF2B5EF4-FFF2-40B4-BE49-F238E27FC236}">
                <a16:creationId xmlns:a16="http://schemas.microsoft.com/office/drawing/2014/main" id="{92897D05-EB43-E8B4-ACF7-2C2754CED9A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5D88A8-E74F-1C7B-24FA-BC5975004D62}"/>
              </a:ext>
            </a:extLst>
          </p:cNvPr>
          <p:cNvSpPr txBox="1"/>
          <p:nvPr/>
        </p:nvSpPr>
        <p:spPr>
          <a:xfrm>
            <a:off x="554736" y="2397669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u="sng" dirty="0"/>
              <a:t>Execution &amp; Deployment Environment</a:t>
            </a:r>
            <a:r>
              <a:rPr lang="en-IN" sz="2800" dirty="0"/>
              <a:t>:</a:t>
            </a:r>
            <a:endParaRPr lang="en-IN" sz="2800" b="1" u="sng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8AC11-FB3B-296D-E73E-09259B82A604}"/>
              </a:ext>
            </a:extLst>
          </p:cNvPr>
          <p:cNvSpPr txBox="1"/>
          <p:nvPr/>
        </p:nvSpPr>
        <p:spPr>
          <a:xfrm>
            <a:off x="457200" y="3073198"/>
            <a:ext cx="8229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Python Runtime Environment:</a:t>
            </a:r>
            <a:r>
              <a:rPr lang="en-IN" sz="2000" dirty="0"/>
              <a:t> Executes the application locally using Python, rendering the native graphical interface directly without requiring external software dependencies.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Distribution:</a:t>
            </a:r>
            <a:r>
              <a:rPr lang="en-IN" sz="2000" dirty="0"/>
              <a:t> Packaged as a portable standalone </a:t>
            </a:r>
            <a:r>
              <a:rPr lang="en-IN" dirty="0"/>
              <a:t>.zip</a:t>
            </a:r>
            <a:r>
              <a:rPr lang="en-IN" sz="2000" dirty="0"/>
              <a:t> archive containing </a:t>
            </a:r>
            <a:r>
              <a:rPr lang="en-IN" dirty="0"/>
              <a:t>main.py</a:t>
            </a:r>
            <a:r>
              <a:rPr lang="en-IN" sz="2000" dirty="0"/>
              <a:t> for easy cross-platform desktop deployment and local execution.</a:t>
            </a:r>
          </a:p>
        </p:txBody>
      </p:sp>
    </p:spTree>
    <p:extLst>
      <p:ext uri="{BB962C8B-B14F-4D97-AF65-F5344CB8AC3E}">
        <p14:creationId xmlns:p14="http://schemas.microsoft.com/office/powerpoint/2010/main" val="33396725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>
          <a:extLst>
            <a:ext uri="{FF2B5EF4-FFF2-40B4-BE49-F238E27FC236}">
              <a16:creationId xmlns:a16="http://schemas.microsoft.com/office/drawing/2014/main" id="{BD58B9B3-0432-3EC2-D4CA-D79517431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>
            <a:extLst>
              <a:ext uri="{FF2B5EF4-FFF2-40B4-BE49-F238E27FC236}">
                <a16:creationId xmlns:a16="http://schemas.microsoft.com/office/drawing/2014/main" id="{211DC14F-1FB8-A7E0-F7CB-CF099FE5E3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6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Output/ Result</a:t>
            </a:r>
            <a:endParaRPr sz="3600" b="1" dirty="0"/>
          </a:p>
        </p:txBody>
      </p:sp>
      <p:sp>
        <p:nvSpPr>
          <p:cNvPr id="166" name="Google Shape;166;p10">
            <a:extLst>
              <a:ext uri="{FF2B5EF4-FFF2-40B4-BE49-F238E27FC236}">
                <a16:creationId xmlns:a16="http://schemas.microsoft.com/office/drawing/2014/main" id="{62B4AACB-0E4C-DA5A-1EE9-98D825B0F3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ct val="100000"/>
              <a:buFont typeface="Times New Roman"/>
              <a:buNone/>
            </a:pP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US" sz="40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400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7" name="Google Shape;167;p10">
            <a:extLst>
              <a:ext uri="{FF2B5EF4-FFF2-40B4-BE49-F238E27FC236}">
                <a16:creationId xmlns:a16="http://schemas.microsoft.com/office/drawing/2014/main" id="{2C5CE645-2574-36BB-8E96-DFD4A7B376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7733"/>
            <a:ext cx="88392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B2B125-012A-0F6B-4FDF-179DC2BB3E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900" y="2359230"/>
            <a:ext cx="2874202" cy="20942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BF5906-C8C6-263B-03AF-9FBA607DDA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2854" y="2414574"/>
            <a:ext cx="2705363" cy="19835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3C51FA-6ADB-0ACC-1928-69566D50AE7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8409" y="2481908"/>
            <a:ext cx="2569691" cy="189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9780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543560" y="870173"/>
            <a:ext cx="822960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2800" b="1" dirty="0"/>
              <a:t>Work Plan / Timeline</a:t>
            </a:r>
            <a:endParaRPr sz="2800" b="1" dirty="0"/>
          </a:p>
        </p:txBody>
      </p:sp>
      <p:pic>
        <p:nvPicPr>
          <p:cNvPr id="174" name="Google Shape;174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0840" y="74772"/>
            <a:ext cx="8229600" cy="7954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C245585-D5A5-323E-7F01-6791F8F2E9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143856"/>
              </p:ext>
            </p:extLst>
          </p:nvPr>
        </p:nvGraphicFramePr>
        <p:xfrm>
          <a:off x="231648" y="1417638"/>
          <a:ext cx="8325611" cy="5029200"/>
        </p:xfrm>
        <a:graphic>
          <a:graphicData uri="http://schemas.openxmlformats.org/drawingml/2006/table">
            <a:tbl>
              <a:tblPr/>
              <a:tblGrid>
                <a:gridCol w="2896785">
                  <a:extLst>
                    <a:ext uri="{9D8B030D-6E8A-4147-A177-3AD203B41FA5}">
                      <a16:colId xmlns:a16="http://schemas.microsoft.com/office/drawing/2014/main" val="2350877603"/>
                    </a:ext>
                  </a:extLst>
                </a:gridCol>
                <a:gridCol w="2714413">
                  <a:extLst>
                    <a:ext uri="{9D8B030D-6E8A-4147-A177-3AD203B41FA5}">
                      <a16:colId xmlns:a16="http://schemas.microsoft.com/office/drawing/2014/main" val="246700255"/>
                    </a:ext>
                  </a:extLst>
                </a:gridCol>
                <a:gridCol w="2714413">
                  <a:extLst>
                    <a:ext uri="{9D8B030D-6E8A-4147-A177-3AD203B41FA5}">
                      <a16:colId xmlns:a16="http://schemas.microsoft.com/office/drawing/2014/main" val="1796007443"/>
                    </a:ext>
                  </a:extLst>
                </a:gridCol>
              </a:tblGrid>
              <a:tr h="18636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Phase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Key Deliverables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9946650"/>
                  </a:ext>
                </a:extLst>
              </a:tr>
              <a:tr h="42354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1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Problem Identification &amp; Requirements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Scope definition, mapping exam parameters, and Python </a:t>
                      </a:r>
                      <a:r>
                        <a:rPr lang="en-IN" sz="1200" dirty="0" err="1"/>
                        <a:t>Tkinter</a:t>
                      </a:r>
                      <a:r>
                        <a:rPr lang="en-IN" sz="1200" dirty="0"/>
                        <a:t> GUI environment setup.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363217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2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System Architecture &amp; Database Design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Designing </a:t>
                      </a:r>
                      <a:r>
                        <a:rPr lang="en-IN" sz="1200" dirty="0" err="1"/>
                        <a:t>Tkinter</a:t>
                      </a:r>
                      <a:r>
                        <a:rPr lang="en-IN" sz="1200" dirty="0"/>
                        <a:t> window layouts, dynamic GUI wireframes, and data structures for questions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4510848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3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Backend Logic &amp; Question Engine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Implementing question loading, multiple-choice option rendering, and candidate response tracking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2842570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4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GUI &amp; Module Integration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Assembling </a:t>
                      </a:r>
                      <a:r>
                        <a:rPr lang="en-IN" sz="1200" dirty="0" err="1"/>
                        <a:t>Tkinter</a:t>
                      </a:r>
                      <a:r>
                        <a:rPr lang="en-IN" sz="1200" dirty="0"/>
                        <a:t> frames, dynamic page transitions, and integrating the 10-minute active timer using 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071110"/>
                  </a:ext>
                </a:extLst>
              </a:tr>
              <a:tr h="42354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5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Auto-Evaluation &amp; Reporting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Instant scoring, percentage calculation, and result/retake interface.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2881176"/>
                  </a:ext>
                </a:extLst>
              </a:tr>
              <a:tr h="542141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6</a:t>
                      </a:r>
                      <a:endParaRPr lang="en-IN" sz="12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Testing &amp; Bug Fixing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Boundary testing for timer expiration, radio button selections, window resizing, and application state resets.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6725754"/>
                  </a:ext>
                </a:extLst>
              </a:tr>
              <a:tr h="273877"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Day 7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Documentation &amp; Final Presentation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rtl="0">
                        <a:spcAft>
                          <a:spcPts val="2400"/>
                        </a:spcAft>
                        <a:buNone/>
                      </a:pPr>
                      <a:r>
                        <a:rPr lang="en-IN" sz="1200" dirty="0"/>
                        <a:t>Code cleanup in </a:t>
                      </a:r>
                      <a:r>
                        <a:rPr lang="en-IN" sz="1400" b="0" i="0" u="none" strike="noStrike" cap="none" spc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main.py</a:t>
                      </a:r>
                      <a:r>
                        <a:rPr lang="en-IN" sz="1200" dirty="0"/>
                        <a:t>, project packaging (.zip), final presentation, and report write-up.</a:t>
                      </a:r>
                      <a:endParaRPr lang="en-IN" sz="12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60960" marB="60960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0357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/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2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Conclusion and Future Plan</a:t>
            </a:r>
            <a:endParaRPr sz="3600" b="1" dirty="0"/>
          </a:p>
        </p:txBody>
      </p:sp>
      <p:sp>
        <p:nvSpPr>
          <p:cNvPr id="180" name="Google Shape;180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endParaRPr/>
          </a:p>
        </p:txBody>
      </p:sp>
      <p:pic>
        <p:nvPicPr>
          <p:cNvPr id="181" name="Google Shape;181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715329-EF03-E5FB-DB1F-D0C3069506DD}"/>
              </a:ext>
            </a:extLst>
          </p:cNvPr>
          <p:cNvSpPr txBox="1"/>
          <p:nvPr/>
        </p:nvSpPr>
        <p:spPr>
          <a:xfrm>
            <a:off x="457200" y="2387600"/>
            <a:ext cx="8351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Conclusion:</a:t>
            </a:r>
          </a:p>
          <a:p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The developed Python-based Online Examination System delivers a secure, streamlined, and automated testing experience.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Significantly minimizes administrative overhead while ensuring transparent and instantaneous evaluation</a:t>
            </a:r>
            <a:r>
              <a:rPr lang="en-IN" sz="2000" dirty="0"/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>
          <a:extLst>
            <a:ext uri="{FF2B5EF4-FFF2-40B4-BE49-F238E27FC236}">
              <a16:creationId xmlns:a16="http://schemas.microsoft.com/office/drawing/2014/main" id="{EA9ACBB8-2293-8D18-073B-0B4E5D75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2">
            <a:extLst>
              <a:ext uri="{FF2B5EF4-FFF2-40B4-BE49-F238E27FC236}">
                <a16:creationId xmlns:a16="http://schemas.microsoft.com/office/drawing/2014/main" id="{6C8FE00C-E71B-FD43-2ACC-C3FA5F1FF3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481329"/>
            <a:ext cx="8229600" cy="7233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256032" algn="l" rtl="0">
              <a:spcBef>
                <a:spcPts val="0"/>
              </a:spcBef>
              <a:spcAft>
                <a:spcPts val="0"/>
              </a:spcAft>
              <a:buSzPts val="2448"/>
              <a:buChar char="🞂"/>
            </a:pPr>
            <a:r>
              <a:rPr lang="en-US" sz="3600" b="1" dirty="0"/>
              <a:t>Conclusion and Future Plan</a:t>
            </a:r>
            <a:endParaRPr sz="3600" b="1" dirty="0"/>
          </a:p>
        </p:txBody>
      </p:sp>
      <p:sp>
        <p:nvSpPr>
          <p:cNvPr id="180" name="Google Shape;180;p12">
            <a:extLst>
              <a:ext uri="{FF2B5EF4-FFF2-40B4-BE49-F238E27FC236}">
                <a16:creationId xmlns:a16="http://schemas.microsoft.com/office/drawing/2014/main" id="{0474EDD0-971A-B8AE-37E4-17E1643626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endParaRPr/>
          </a:p>
        </p:txBody>
      </p:sp>
      <p:pic>
        <p:nvPicPr>
          <p:cNvPr id="181" name="Google Shape;181;p12">
            <a:extLst>
              <a:ext uri="{FF2B5EF4-FFF2-40B4-BE49-F238E27FC236}">
                <a16:creationId xmlns:a16="http://schemas.microsoft.com/office/drawing/2014/main" id="{30B66446-4130-9D96-E859-2061EAAC19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304800"/>
            <a:ext cx="88392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7E3F33-67E2-1DD4-BE41-9A543E969FD1}"/>
              </a:ext>
            </a:extLst>
          </p:cNvPr>
          <p:cNvSpPr txBox="1"/>
          <p:nvPr/>
        </p:nvSpPr>
        <p:spPr>
          <a:xfrm>
            <a:off x="457200" y="2387600"/>
            <a:ext cx="835152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Future Scope:</a:t>
            </a:r>
          </a:p>
          <a:p>
            <a:endParaRPr lang="en-IN" sz="24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Integrating AI-based computer vision for automated facial and tab-switch proctoring.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Integrating Natural Language Processing (NLP) models (e.g., BERT/Transformers) for semantic evaluation of subjective text answers.</a:t>
            </a:r>
          </a:p>
        </p:txBody>
      </p:sp>
    </p:spTree>
    <p:extLst>
      <p:ext uri="{BB962C8B-B14F-4D97-AF65-F5344CB8AC3E}">
        <p14:creationId xmlns:p14="http://schemas.microsoft.com/office/powerpoint/2010/main" val="32479572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5760" lvl="0" indent="-83312" algn="ctr" rtl="0">
              <a:spcBef>
                <a:spcPts val="0"/>
              </a:spcBef>
              <a:spcAft>
                <a:spcPts val="0"/>
              </a:spcAft>
              <a:buSzPts val="2720"/>
              <a:buNone/>
            </a:pPr>
            <a:endParaRPr sz="40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83312" algn="ctr" rtl="0">
              <a:spcBef>
                <a:spcPts val="400"/>
              </a:spcBef>
              <a:spcAft>
                <a:spcPts val="0"/>
              </a:spcAft>
              <a:buSzPts val="2720"/>
              <a:buNone/>
            </a:pPr>
            <a:endParaRPr sz="40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65760" lvl="0" indent="-256032" algn="ctr" rtl="0">
              <a:spcBef>
                <a:spcPts val="400"/>
              </a:spcBef>
              <a:spcAft>
                <a:spcPts val="0"/>
              </a:spcAft>
              <a:buSzPts val="2720"/>
              <a:buNone/>
            </a:pPr>
            <a:r>
              <a:rPr lang="en-US" sz="7200" b="1" dirty="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7200" b="1" dirty="0">
              <a:solidFill>
                <a:schemeClr val="accent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8" name="Google Shape;18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" y="279209"/>
            <a:ext cx="88392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1292</Words>
  <Application>Microsoft Office PowerPoint</Application>
  <PresentationFormat>On-screen Show (4:3)</PresentationFormat>
  <Paragraphs>197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Cambria Math</vt:lpstr>
      <vt:lpstr>Google Sans Text</vt:lpstr>
      <vt:lpstr>Lucida Sans</vt:lpstr>
      <vt:lpstr>Noto Sans Symbols</vt:lpstr>
      <vt:lpstr>Times New Roman</vt:lpstr>
      <vt:lpstr>Concourse</vt:lpstr>
      <vt:lpstr>Capstone Project Title </vt:lpstr>
      <vt:lpstr>PowerPoint Presentation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  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UMAAS VENKAT</dc:creator>
  <cp:lastModifiedBy>saindhavhi123@outlook.com</cp:lastModifiedBy>
  <cp:revision>5</cp:revision>
  <dcterms:created xsi:type="dcterms:W3CDTF">2025-02-21T04:08:36Z</dcterms:created>
  <dcterms:modified xsi:type="dcterms:W3CDTF">2026-09-03T03:28:15Z</dcterms:modified>
</cp:coreProperties>
</file>